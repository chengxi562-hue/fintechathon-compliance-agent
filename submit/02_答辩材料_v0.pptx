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B8A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FinTechathon 2026  ·  银行 AI 智能体赛道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20116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合规先审 · 银行 AI 销售智能体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40080" y="26974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38BDF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（合规官）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338328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先审后答 · 每一步留痕 —— 让银行敢让大模型卖理财的那一层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420624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队伍：弋承熙 &amp; 高依灵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答辩材料 v0  ·  约 8–10 分钟  ·  2026-10-18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Mock 数据 · 不接真实资金 · 不构成投资建议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64922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FinTechathon 2026 · 银行 AI 智能体 · 弋承熙 &amp; 高依灵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515600" y="649224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 / 9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B8A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问题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银行怕的不是答得慢，是卖错人、说错话、转错钱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743200" cy="3291840"/>
          </a:xfrm>
          <a:prstGeom prst="roundRect">
            <a:avLst>
              <a:gd name="adj" fmla="val 3333"/>
            </a:avLst>
          </a:prstGeom>
          <a:solidFill>
            <a:srgbClr val="121A2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463040"/>
            <a:ext cx="2743200" cy="109728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8288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适当性失守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2377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R2 客户被推 R4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投诉 / 监管 / 举证失败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337560" y="1463040"/>
            <a:ext cx="2743200" cy="3291840"/>
          </a:xfrm>
          <a:prstGeom prst="roundRect">
            <a:avLst>
              <a:gd name="adj" fmla="val 3333"/>
            </a:avLst>
          </a:prstGeom>
          <a:solidFill>
            <a:srgbClr val="121A2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337560" y="1463040"/>
            <a:ext cx="2743200" cy="10972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3520440" y="18288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违规话术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520440" y="2468880"/>
            <a:ext cx="2377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「保本」「稳赚」「刚兑」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销售误导 · 消保红线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217920" y="1463040"/>
            <a:ext cx="2743200" cy="3291840"/>
          </a:xfrm>
          <a:prstGeom prst="roundRect">
            <a:avLst>
              <a:gd name="adj" fmla="val 3333"/>
            </a:avLst>
          </a:prstGeom>
          <a:solidFill>
            <a:srgbClr val="121A2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0" y="1463040"/>
            <a:ext cx="2743200" cy="109728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0" y="18288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越权资金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400800" y="2468880"/>
            <a:ext cx="2377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大额陌生收款人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注入后试图绕限额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9098280" y="1463040"/>
            <a:ext cx="2743200" cy="3291840"/>
          </a:xfrm>
          <a:prstGeom prst="roundRect">
            <a:avLst>
              <a:gd name="adj" fmla="val 3333"/>
            </a:avLst>
          </a:prstGeom>
          <a:solidFill>
            <a:srgbClr val="121A2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098280" y="1463040"/>
            <a:ext cx="2743200" cy="10972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8" name="Text 16"/>
          <p:cNvSpPr/>
          <p:nvPr/>
        </p:nvSpPr>
        <p:spPr>
          <a:xfrm>
            <a:off x="9281160" y="18288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不可审计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281160" y="2468880"/>
            <a:ext cx="2377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只有聊天记录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无法自证「哪一步拦了」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" y="502920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B8A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一句话：需要的不是「更会聊」的 Agent，而是「先审后答、每步留痕」的 Agent。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57200" y="64922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FinTechathon 2026 · 银行 AI 智能体 · 弋承熙 &amp; 高依灵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0515600" y="649224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 / 9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B8A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方案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四道门 + 全链路审计 + 银行侧双闸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743200" cy="2194560"/>
          </a:xfrm>
          <a:prstGeom prst="roundRect">
            <a:avLst>
              <a:gd name="adj" fmla="val 4167"/>
            </a:avLst>
          </a:prstGeom>
          <a:solidFill>
            <a:srgbClr val="121A2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5544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B8A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意图门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51460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注入 / 越狱 / 越权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非业务意图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063240" y="2194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8BDF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337560" y="1371600"/>
            <a:ext cx="2743200" cy="2194560"/>
          </a:xfrm>
          <a:prstGeom prst="roundRect">
            <a:avLst>
              <a:gd name="adj" fmla="val 4167"/>
            </a:avLst>
          </a:prstGeom>
          <a:solidFill>
            <a:srgbClr val="121A2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20440" y="15544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B8A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520440" y="20116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产品门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520440" y="251460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目录 allowlist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幻觉品名硬拒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943600" y="2194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8BDF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217920" y="1371600"/>
            <a:ext cx="2743200" cy="2194560"/>
          </a:xfrm>
          <a:prstGeom prst="roundRect">
            <a:avLst>
              <a:gd name="adj" fmla="val 4167"/>
            </a:avLst>
          </a:prstGeom>
          <a:solidFill>
            <a:srgbClr val="121A2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15544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B8A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400800" y="20116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适当性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00800" y="251460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风险分 vs 产品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购拦 / 询警示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823960" y="2194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8BDF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9098280" y="1371600"/>
            <a:ext cx="2743200" cy="2194560"/>
          </a:xfrm>
          <a:prstGeom prst="roundRect">
            <a:avLst>
              <a:gd name="adj" fmla="val 4167"/>
            </a:avLst>
          </a:prstGeom>
          <a:solidFill>
            <a:srgbClr val="121A2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281160" y="15544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B8A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04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9281160" y="20116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话术门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281160" y="251460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禁保本/稳赚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放行必带披露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3840480"/>
            <a:ext cx="11247120" cy="2011680"/>
          </a:xfrm>
          <a:prstGeom prst="roundRect">
            <a:avLst>
              <a:gd name="adj" fmla="val 4545"/>
            </a:avLst>
          </a:prstGeom>
          <a:solidFill>
            <a:srgbClr val="121A2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" y="40233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三条原则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85800" y="4434840"/>
            <a:ext cx="10789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E2E8F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1. 规则先行，模型后置 —— YAML 管「能不能」，LLM 管「怎么说」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E2E8F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2. 默认拒绝 —— 目录外 / 金额不清 / 意图不定 → 澄清或拦截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E2E8F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3. 可回放 —— request_id + 四门明细 + 原因码，审计可重放成路演画面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57200" y="64922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FinTechathon 2026 · 银行 AI 智能体 · 弋承熙 &amp; 高依灵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0515600" y="649224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 / 9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B8A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架构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W0 可运行骨架 · LangGraph-ready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011680" cy="1234440"/>
          </a:xfrm>
          <a:prstGeom prst="roundRect">
            <a:avLst>
              <a:gd name="adj" fmla="val 5926"/>
            </a:avLst>
          </a:prstGeom>
          <a:solidFill>
            <a:srgbClr val="121A2B"/>
          </a:solidFill>
          <a:ln w="19050">
            <a:solidFill>
              <a:srgbClr val="1E29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5544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用户话术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20574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林晓晴 R2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423160" y="173736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B8A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→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743200" y="1371600"/>
            <a:ext cx="2011680" cy="1234440"/>
          </a:xfrm>
          <a:prstGeom prst="roundRect">
            <a:avLst>
              <a:gd name="adj" fmla="val 5926"/>
            </a:avLst>
          </a:prstGeom>
          <a:solidFill>
            <a:srgbClr val="121A2B"/>
          </a:solidFill>
          <a:ln w="19050">
            <a:solidFill>
              <a:srgbClr val="1E29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34640" y="15544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Intent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834640" y="20574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确定性分类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09160" y="173736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B8A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029200" y="1371600"/>
            <a:ext cx="2011680" cy="1234440"/>
          </a:xfrm>
          <a:prstGeom prst="roundRect">
            <a:avLst>
              <a:gd name="adj" fmla="val 5926"/>
            </a:avLst>
          </a:prstGeom>
          <a:solidFill>
            <a:srgbClr val="0F3D3A"/>
          </a:solidFill>
          <a:ln w="19050">
            <a:solidFill>
              <a:srgbClr val="14B8A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20640" y="15544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四道门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120640" y="20574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gates.py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995160" y="173736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B8A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315200" y="1371600"/>
            <a:ext cx="2011680" cy="1234440"/>
          </a:xfrm>
          <a:prstGeom prst="roundRect">
            <a:avLst>
              <a:gd name="adj" fmla="val 5926"/>
            </a:avLst>
          </a:prstGeom>
          <a:solidFill>
            <a:srgbClr val="121A2B"/>
          </a:solidFill>
          <a:ln w="19050">
            <a:solidFill>
              <a:srgbClr val="1E293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06640" y="15544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Tools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406640" y="20574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仅 allowed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281160" y="173736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B8A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9601200" y="1371600"/>
            <a:ext cx="2011680" cy="1234440"/>
          </a:xfrm>
          <a:prstGeom prst="roundRect">
            <a:avLst>
              <a:gd name="adj" fmla="val 5926"/>
            </a:avLst>
          </a:prstGeom>
          <a:solidFill>
            <a:srgbClr val="121A2B"/>
          </a:solidFill>
          <a:ln w="19050">
            <a:solidFill>
              <a:srgbClr val="1E293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92640" y="15544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审计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692640" y="20574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JSONL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3017520"/>
            <a:ext cx="3657600" cy="1051560"/>
          </a:xfrm>
          <a:prstGeom prst="roundRect">
            <a:avLst>
              <a:gd name="adj" fmla="val 6957"/>
            </a:avLst>
          </a:prstGeom>
          <a:solidFill>
            <a:srgbClr val="121A2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32004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agent/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40080" y="35204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状态机 + 四关 + 金额解析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297680" y="3017520"/>
            <a:ext cx="3657600" cy="1051560"/>
          </a:xfrm>
          <a:prstGeom prst="roundRect">
            <a:avLst>
              <a:gd name="adj" fmla="val 6957"/>
            </a:avLst>
          </a:prstGeom>
          <a:solidFill>
            <a:srgbClr val="121A2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480560" y="32004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mock_bank/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480560" y="35204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FastAPI + 第二道闸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8138160" y="3017520"/>
            <a:ext cx="3657600" cy="1051560"/>
          </a:xfrm>
          <a:prstGeom prst="roundRect">
            <a:avLst>
              <a:gd name="adj" fmla="val 6957"/>
            </a:avLst>
          </a:prstGeom>
          <a:solidFill>
            <a:srgbClr val="121A2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321040" y="32004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configs/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8321040" y="35204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compliance_rules.yaml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57200" y="4251960"/>
            <a:ext cx="3657600" cy="1051560"/>
          </a:xfrm>
          <a:prstGeom prst="roundRect">
            <a:avLst>
              <a:gd name="adj" fmla="val 6957"/>
            </a:avLst>
          </a:prstGeom>
          <a:solidFill>
            <a:srgbClr val="121A2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" y="44348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audit/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640080" y="47548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events.jsonl 决策轨迹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4297680" y="4251960"/>
            <a:ext cx="3657600" cy="1051560"/>
          </a:xfrm>
          <a:prstGeom prst="roundRect">
            <a:avLst>
              <a:gd name="adj" fmla="val 6957"/>
            </a:avLst>
          </a:prstGeom>
          <a:solidFill>
            <a:srgbClr val="121A2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480560" y="44348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tests/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4480560" y="47548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83 passed（pytest）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8138160" y="4251960"/>
            <a:ext cx="3657600" cy="1051560"/>
          </a:xfrm>
          <a:prstGeom prst="roundRect">
            <a:avLst>
              <a:gd name="adj" fmla="val 6957"/>
            </a:avLst>
          </a:prstGeom>
          <a:solidFill>
            <a:srgbClr val="121A2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321040" y="44348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data/evals/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8321040" y="47548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评测集 + 对抗集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457200" y="64922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FinTechathon 2026 · 银行 AI 智能体 · 弋承熙 &amp; 高依灵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10515600" y="649224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 / 9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B8A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演示三幕（约 5 分钟）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拦得住 · 办得成 · 兜得住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3657600" cy="4480560"/>
          </a:xfrm>
          <a:prstGeom prst="roundRect">
            <a:avLst>
              <a:gd name="adj" fmla="val 2500"/>
            </a:avLst>
          </a:prstGeom>
          <a:solidFill>
            <a:srgbClr val="121A2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25880"/>
            <a:ext cx="3657600" cy="91440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6002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第一幕 · 拦得住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20116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717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~90s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25603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·  「…保本的。」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" y="30632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·  Gate4 → USER_FORBIDDEN:保本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35661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·  规则门在模型之前拦下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5800" y="40690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·  资金工具调用 = 0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297680" y="1325880"/>
            <a:ext cx="3657600" cy="4480560"/>
          </a:xfrm>
          <a:prstGeom prst="roundRect">
            <a:avLst>
              <a:gd name="adj" fmla="val 2500"/>
            </a:avLst>
          </a:prstGeom>
          <a:solidFill>
            <a:srgbClr val="121A2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97680" y="1325880"/>
            <a:ext cx="3657600" cy="9144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4" name="Text 12"/>
          <p:cNvSpPr/>
          <p:nvPr/>
        </p:nvSpPr>
        <p:spPr>
          <a:xfrm>
            <a:off x="4526280" y="16002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第二幕 · 办得成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26280" y="20116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~120s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26280" y="25603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·  R2 货基/短债 → 放行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26280" y="30632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·  WB_CASH_001 + 强制披露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26280" y="35661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·  100 元转本人备用金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26280" y="40690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·  审计面板实时追加 JSONL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138160" y="1325880"/>
            <a:ext cx="3657600" cy="4480560"/>
          </a:xfrm>
          <a:prstGeom prst="roundRect">
            <a:avLst>
              <a:gd name="adj" fmla="val 2500"/>
            </a:avLst>
          </a:prstGeom>
          <a:solidFill>
            <a:srgbClr val="121A2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138160" y="1325880"/>
            <a:ext cx="3657600" cy="914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8366760" y="16002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第三幕 · 兜得住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366760" y="20116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9E0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~90s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366760" y="25603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·  6 万转陌生人 → 白名单拦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366760" y="30632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·  注入改收款人 → 金额门兜住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366760" y="35661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·  主动交底失败数字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366760" y="40690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·  可回归用例表，不是剪辑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57200" y="64922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FinTechathon 2026 · 银行 AI 智能体 · 弋承熙 &amp; 高依灵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0515600" y="649224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 / 9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B8A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差异化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别人做「会卖」——我们做「银行敢让它卖」</a:t>
            </a:r>
            <a:endParaRPr lang="en-US" sz="2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11247120" cy="4389120"/>
        </p:xfrm>
        <a:graphic>
          <a:graphicData uri="http://schemas.openxmlformats.org/drawingml/2006/table">
            <a:tbl>
              <a:tblPr/>
              <a:tblGrid>
                <a:gridCol w="5029200"/>
                <a:gridCol w="6217920"/>
              </a:tblGrid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4B8A6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常见做法</a:t>
                      </a:r>
                      <a:endParaRPr lang="en-US" sz="13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4B8A6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我们</a:t>
                      </a:r>
                      <a:endParaRPr lang="en-US" sz="13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3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system prompt 说「要合规」</a:t>
                      </a:r>
                      <a:endParaRPr lang="en-US" sz="13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E2E8F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独立可测组件 gates.py + YAML + 单测</a:t>
                      </a:r>
                      <a:endParaRPr lang="en-US" sz="13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B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只演示成功路径</a:t>
                      </a:r>
                      <a:endParaRPr lang="en-US" sz="13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E2E8F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同一流程既放行又拦截，边界可见</a:t>
                      </a:r>
                      <a:endParaRPr lang="en-US" sz="13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B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靠模型自觉不说幻觉</a:t>
                      </a:r>
                      <a:endParaRPr lang="en-US" sz="13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E2E8F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目录 allowlist 硬约束</a:t>
                      </a:r>
                      <a:endParaRPr lang="en-US" sz="13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B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审计 = 存对话</a:t>
                      </a:r>
                      <a:endParaRPr lang="en-US" sz="13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E2E8F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审计 = 结构化决策轨迹</a:t>
                      </a:r>
                      <a:endParaRPr lang="en-US" sz="13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B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事后人工抽检</a:t>
                      </a:r>
                      <a:endParaRPr lang="en-US" sz="13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E2E8F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评测集可 CI 回归</a:t>
                      </a:r>
                      <a:endParaRPr lang="en-US" sz="13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B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4922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FinTechathon 2026 · 银行 AI 智能体 · 弋承熙 &amp; 高依灵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0515600" y="649224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6 / 9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B8A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数据（如实 · 未经美化）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敢在路演放失败数字，因为有可回归用例表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743200" cy="2286000"/>
          </a:xfrm>
          <a:prstGeom prst="roundRect">
            <a:avLst>
              <a:gd name="adj" fmla="val 4000"/>
            </a:avLst>
          </a:prstGeom>
          <a:solidFill>
            <a:srgbClr val="121A2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64592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4B8A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70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94360" y="24688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评测集 v0 条数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29260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W/T/X/A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37560" y="1371600"/>
            <a:ext cx="2743200" cy="2286000"/>
          </a:xfrm>
          <a:prstGeom prst="roundRect">
            <a:avLst>
              <a:gd name="adj" fmla="val 4000"/>
            </a:avLst>
          </a:prstGeom>
          <a:solidFill>
            <a:srgbClr val="121A2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0" y="164592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4B8A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0%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3474720" y="24688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误拦率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74720" y="29260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该放的没被拦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17920" y="1371600"/>
            <a:ext cx="2743200" cy="2286000"/>
          </a:xfrm>
          <a:prstGeom prst="roundRect">
            <a:avLst>
              <a:gd name="adj" fmla="val 4000"/>
            </a:avLst>
          </a:prstGeom>
          <a:solidFill>
            <a:srgbClr val="121A2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5080" y="164592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9E0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41.9%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6355080" y="24688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应拦拦截率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355080" y="29260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W1 主攻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098280" y="1371600"/>
            <a:ext cx="2743200" cy="2286000"/>
          </a:xfrm>
          <a:prstGeom prst="roundRect">
            <a:avLst>
              <a:gd name="adj" fmla="val 4000"/>
            </a:avLst>
          </a:prstGeom>
          <a:solidFill>
            <a:srgbClr val="121A2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235440" y="164592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9E0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58.8%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9235440" y="24688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注入逃逸率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235440" y="29260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越低越好 · W1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931920"/>
            <a:ext cx="11247120" cy="1920240"/>
          </a:xfrm>
          <a:prstGeom prst="roundRect">
            <a:avLst>
              <a:gd name="adj" fmla="val 4762"/>
            </a:avLst>
          </a:prstGeom>
          <a:solidFill>
            <a:srgbClr val="121A2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4114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W1 目标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85800" y="4572000"/>
            <a:ext cx="10789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应拦拦截率 ≥ 90%  ·  注入逃逸 ≤ 20%  ·  误拦 ≤ 5%  ·  评测集 ≥ 80 条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单测当前 83 passed  ·  对抗集 103 条真跑  ·  指标口径【待依灵确认】前不对外签章引用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7200" y="64922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FinTechathon 2026 · 银行 AI 智能体 · 弋承熙 &amp; 高依灵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515600" y="649224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7 / 9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B8A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安全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双闸：Agent 四门 + Mock Bank 兜底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Agent 侧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309360" y="12801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Bank 侧第二道闸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5486400" cy="822960"/>
          </a:xfrm>
          <a:prstGeom prst="roundRect">
            <a:avLst>
              <a:gd name="adj" fmla="val 8889"/>
            </a:avLst>
          </a:prstGeom>
          <a:solidFill>
            <a:srgbClr val="121A2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84708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注入 / 越狱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1488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YAML 模式 + 间接注入载体检测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697480"/>
            <a:ext cx="5486400" cy="822960"/>
          </a:xfrm>
          <a:prstGeom prst="roundRect">
            <a:avLst>
              <a:gd name="adj" fmla="val 8889"/>
            </a:avLst>
          </a:prstGeom>
          <a:solidFill>
            <a:srgbClr val="121A2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80720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授权范围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31089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代客 / 横向 / 测评篡改一律拦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657600"/>
            <a:ext cx="5486400" cy="822960"/>
          </a:xfrm>
          <a:prstGeom prst="roundRect">
            <a:avLst>
              <a:gd name="adj" fmla="val 8889"/>
            </a:avLst>
          </a:prstGeom>
          <a:solidFill>
            <a:srgbClr val="121A2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76732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目录硬约束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40690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未知品名 block，禁止静默近名替换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4617720"/>
            <a:ext cx="5486400" cy="822960"/>
          </a:xfrm>
          <a:prstGeom prst="roundRect">
            <a:avLst>
              <a:gd name="adj" fmla="val 8889"/>
            </a:avLst>
          </a:prstGeom>
          <a:solidFill>
            <a:srgbClr val="121A2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472744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话术归一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" y="502920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同音变体防「保本」绕过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309360" y="1737360"/>
            <a:ext cx="5394960" cy="822960"/>
          </a:xfrm>
          <a:prstGeom prst="roundRect">
            <a:avLst>
              <a:gd name="adj" fmla="val 8889"/>
            </a:avLst>
          </a:prstGeom>
          <a:solidFill>
            <a:srgbClr val="121A2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92240" y="184708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转账白名单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92240" y="21488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&gt;5 万非本人 → 403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309360" y="2697480"/>
            <a:ext cx="5394960" cy="822960"/>
          </a:xfrm>
          <a:prstGeom prst="roundRect">
            <a:avLst>
              <a:gd name="adj" fmla="val 8889"/>
            </a:avLst>
          </a:prstGeom>
          <a:solidFill>
            <a:srgbClr val="121A2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92240" y="280720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日累计软限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92240" y="31089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对外 &gt;2 万/日 → 403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309360" y="3657600"/>
            <a:ext cx="5394960" cy="822960"/>
          </a:xfrm>
          <a:prstGeom prst="roundRect">
            <a:avLst>
              <a:gd name="adj" fmla="val 8889"/>
            </a:avLst>
          </a:prstGeom>
          <a:solidFill>
            <a:srgbClr val="121A2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92240" y="376732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申购适当性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492240" y="40690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risk_score 不足 → 403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309360" y="4617720"/>
            <a:ext cx="5394960" cy="822960"/>
          </a:xfrm>
          <a:prstGeom prst="roundRect">
            <a:avLst>
              <a:gd name="adj" fmla="val 8889"/>
            </a:avLst>
          </a:prstGeom>
          <a:solidFill>
            <a:srgbClr val="121A2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92240" y="472744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密钥纪律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492240" y="50292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无 .env；包内仅 .env.example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57200" y="64922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FinTechathon 2026 · 银行 AI 智能体 · 弋承熙 &amp; 高依灵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0515600" y="649224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8 / 9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1887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B8A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收尾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让银行的大模型「先审后答」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2468880"/>
            <a:ext cx="10972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2E8F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每一条销售话术过四道门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2E8F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每一次拦截进审计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2E8F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每一个失败都可复现、可修复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114800"/>
            <a:ext cx="10789920" cy="1554480"/>
          </a:xfrm>
          <a:prstGeom prst="roundRect">
            <a:avLst>
              <a:gd name="adj" fmla="val 5882"/>
            </a:avLst>
          </a:prstGeom>
          <a:solidFill>
            <a:srgbClr val="121A2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42976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落地假设（微众类互联网银行试点）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470916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切入点：财富售前合规拦截层（SDK/网关挂在 Agent 与工具之间）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对接：风险等级 · 产品目录 · 话术库 · 行内审计平台  ·  KPI：误导投诉 / 拦截率 / 复核工时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【未核验】行内是否已有同类产品 —— 发言按「假设」表述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64922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FinTechathon 2026 · 银行 AI 智能体 · 弋承熙 &amp; 高依灵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515600" y="649224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9 / 9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合规先审·银行AI销售智能体（合规官）</dc:title>
  <dc:subject>FinTechathon 2026 答辩材料 v0</dc:subject>
  <dc:creator>弋承熙 &amp; 高依灵</dc:creator>
  <cp:lastModifiedBy>弋承熙 &amp; 高依灵</cp:lastModifiedBy>
  <cp:revision>1</cp:revision>
  <dcterms:created xsi:type="dcterms:W3CDTF">2026-10-18T04:58:46Z</dcterms:created>
  <dcterms:modified xsi:type="dcterms:W3CDTF">2026-10-18T04:58:46Z</dcterms:modified>
</cp:coreProperties>
</file>