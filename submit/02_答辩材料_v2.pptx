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66760" y="1417320"/>
            <a:ext cx="566928" cy="2834640"/>
          </a:xfrm>
          <a:prstGeom prst="roundRect">
            <a:avLst>
              <a:gd name="adj" fmla="val 45161"/>
            </a:avLst>
          </a:prstGeom>
          <a:solidFill>
            <a:srgbClr val="2DD4BF"/>
          </a:solidFill>
          <a:ln w="6350">
            <a:solidFill>
              <a:srgbClr val="2233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235440" y="1417320"/>
            <a:ext cx="566928" cy="2834640"/>
          </a:xfrm>
          <a:prstGeom prst="roundRect">
            <a:avLst>
              <a:gd name="adj" fmla="val 45161"/>
            </a:avLst>
          </a:prstGeom>
          <a:solidFill>
            <a:srgbClr val="1A2A3C"/>
          </a:solidFill>
          <a:ln w="6350">
            <a:solidFill>
              <a:srgbClr val="2233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104120" y="1417320"/>
            <a:ext cx="566928" cy="2834640"/>
          </a:xfrm>
          <a:prstGeom prst="roundRect">
            <a:avLst>
              <a:gd name="adj" fmla="val 45161"/>
            </a:avLst>
          </a:prstGeom>
          <a:solidFill>
            <a:srgbClr val="1A2A3C"/>
          </a:solidFill>
          <a:ln w="6350">
            <a:solidFill>
              <a:srgbClr val="2233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972800" y="1417320"/>
            <a:ext cx="566928" cy="2834640"/>
          </a:xfrm>
          <a:prstGeom prst="roundRect">
            <a:avLst>
              <a:gd name="adj" fmla="val 45161"/>
            </a:avLst>
          </a:prstGeom>
          <a:solidFill>
            <a:srgbClr val="1A2A3C"/>
          </a:solidFill>
          <a:ln w="6350">
            <a:solidFill>
              <a:srgbClr val="2233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2344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2DD4B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FINTECHATHON 2026 · 银行 AI 智能体赛道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合规官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822960" y="269748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5EEAD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先审后答 · 每一步留痕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822960" y="3337560"/>
            <a:ext cx="7223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6B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让银行敢让大模型卖理财的那一层：四道合规门 + 全链路审计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4160520"/>
            <a:ext cx="2926080" cy="0"/>
          </a:xfrm>
          <a:prstGeom prst="line">
            <a:avLst/>
          </a:prstGeom>
          <a:noFill/>
          <a:ln w="25400">
            <a:solidFill>
              <a:srgbClr val="2DD4B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44348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AF2F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弋承熙 &amp; 高依灵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22960" y="4800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739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2026-10-20 · 答辩材料 v2 · Mock 数据，不接真实资金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6327648"/>
            <a:ext cx="10911535" cy="0"/>
          </a:xfrm>
          <a:prstGeom prst="line">
            <a:avLst/>
          </a:prstGeom>
          <a:noFill/>
          <a:ln w="9525">
            <a:solidFill>
              <a:srgbClr val="223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739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FinTechathon 2026 · 银行 AI 智能体 · 弋承熙 &amp; 高依灵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0728655" y="640080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739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 / 10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2DD4B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问题 /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银行怕的不是答得慢，是卖错人、说错话、转错钱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2606040" cy="2514600"/>
          </a:xfrm>
          <a:prstGeom prst="roundRect">
            <a:avLst>
              <a:gd name="adj" fmla="val 4364"/>
            </a:avLst>
          </a:prstGeom>
          <a:solidFill>
            <a:srgbClr val="14202E"/>
          </a:solidFill>
          <a:ln w="9525">
            <a:solidFill>
              <a:srgbClr val="2233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965960"/>
            <a:ext cx="2606040" cy="54864"/>
          </a:xfrm>
          <a:prstGeom prst="rect">
            <a:avLst/>
          </a:prstGeom>
          <a:solidFill>
            <a:srgbClr val="EF6461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12140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EF646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68680" y="2542032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适当性失守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68680" y="310896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AF2F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R2 客户被推 R4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68680" y="3675888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B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投诉 · 监管 · 举证失败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456432" y="1965960"/>
            <a:ext cx="2606040" cy="2514600"/>
          </a:xfrm>
          <a:prstGeom prst="roundRect">
            <a:avLst>
              <a:gd name="adj" fmla="val 4364"/>
            </a:avLst>
          </a:prstGeom>
          <a:solidFill>
            <a:srgbClr val="14202E"/>
          </a:solidFill>
          <a:ln w="9525">
            <a:solidFill>
              <a:srgbClr val="2233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56432" y="1965960"/>
            <a:ext cx="2606040" cy="54864"/>
          </a:xfrm>
          <a:prstGeom prst="rect">
            <a:avLst/>
          </a:prstGeom>
          <a:solidFill>
            <a:srgbClr val="F4A261"/>
          </a:solidFill>
          <a:ln/>
        </p:spPr>
      </p:sp>
      <p:sp>
        <p:nvSpPr>
          <p:cNvPr id="12" name="Text 10"/>
          <p:cNvSpPr/>
          <p:nvPr/>
        </p:nvSpPr>
        <p:spPr>
          <a:xfrm>
            <a:off x="3685032" y="212140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F4A26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685032" y="2542032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违规话术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685032" y="310896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AF2F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「保本」「稳赚」「刚兑」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685032" y="3675888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B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销售误导 · 消保红线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72784" y="1965960"/>
            <a:ext cx="2606040" cy="2514600"/>
          </a:xfrm>
          <a:prstGeom prst="roundRect">
            <a:avLst>
              <a:gd name="adj" fmla="val 4364"/>
            </a:avLst>
          </a:prstGeom>
          <a:solidFill>
            <a:srgbClr val="14202E"/>
          </a:solidFill>
          <a:ln w="9525">
            <a:solidFill>
              <a:srgbClr val="22334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72784" y="1965960"/>
            <a:ext cx="2606040" cy="54864"/>
          </a:xfrm>
          <a:prstGeom prst="rect">
            <a:avLst/>
          </a:prstGeom>
          <a:solidFill>
            <a:srgbClr val="F4A261"/>
          </a:solidFill>
          <a:ln/>
        </p:spPr>
      </p:sp>
      <p:sp>
        <p:nvSpPr>
          <p:cNvPr id="18" name="Text 16"/>
          <p:cNvSpPr/>
          <p:nvPr/>
        </p:nvSpPr>
        <p:spPr>
          <a:xfrm>
            <a:off x="6501384" y="212140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F4A26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501384" y="2542032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越权资金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501384" y="310896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AF2F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大额陌生收款人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501384" y="3675888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B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注入后试图绕限额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089136" y="1965960"/>
            <a:ext cx="2606040" cy="2514600"/>
          </a:xfrm>
          <a:prstGeom prst="roundRect">
            <a:avLst>
              <a:gd name="adj" fmla="val 4364"/>
            </a:avLst>
          </a:prstGeom>
          <a:solidFill>
            <a:srgbClr val="14202E"/>
          </a:solidFill>
          <a:ln w="9525">
            <a:solidFill>
              <a:srgbClr val="22334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089136" y="1965960"/>
            <a:ext cx="2606040" cy="54864"/>
          </a:xfrm>
          <a:prstGeom prst="rect">
            <a:avLst/>
          </a:prstGeom>
          <a:solidFill>
            <a:srgbClr val="EF6461"/>
          </a:solidFill>
          <a:ln/>
        </p:spPr>
      </p:sp>
      <p:sp>
        <p:nvSpPr>
          <p:cNvPr id="24" name="Text 22"/>
          <p:cNvSpPr/>
          <p:nvPr/>
        </p:nvSpPr>
        <p:spPr>
          <a:xfrm>
            <a:off x="9317736" y="212140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EF646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04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317736" y="2542032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不可审计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9317736" y="310896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AF2F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只有聊天记录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317736" y="3675888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B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无法自证「哪一步拦了」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40080" y="4800600"/>
            <a:ext cx="10911535" cy="1097280"/>
          </a:xfrm>
          <a:prstGeom prst="roundRect">
            <a:avLst>
              <a:gd name="adj" fmla="val 8333"/>
            </a:avLst>
          </a:prstGeom>
          <a:solidFill>
            <a:srgbClr val="1A2A3C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5120640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EEAD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需要的不是「更会聊」的 Agent，而是「先审后答、每步留痕」的 Agent</a:t>
            </a:r>
            <a:endParaRPr lang="en-US" sz="1900" dirty="0"/>
          </a:p>
        </p:txBody>
      </p:sp>
      <p:sp>
        <p:nvSpPr>
          <p:cNvPr id="30" name="Shape 28"/>
          <p:cNvSpPr/>
          <p:nvPr/>
        </p:nvSpPr>
        <p:spPr>
          <a:xfrm>
            <a:off x="640080" y="6327648"/>
            <a:ext cx="10911535" cy="0"/>
          </a:xfrm>
          <a:prstGeom prst="line">
            <a:avLst/>
          </a:prstGeom>
          <a:noFill/>
          <a:ln w="9525">
            <a:solidFill>
              <a:srgbClr val="22334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739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FinTechathon 2026 · 银行 AI 智能体 · 弋承熙 &amp; 高依灵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0728655" y="640080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739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 / 10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2DD4B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方案 / SOLUTION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四道门 + 全链路审计 + 银行侧双闸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2542032" cy="2148840"/>
          </a:xfrm>
          <a:prstGeom prst="roundRect">
            <a:avLst>
              <a:gd name="adj" fmla="val 5106"/>
            </a:avLst>
          </a:prstGeom>
          <a:solidFill>
            <a:srgbClr val="14202E"/>
          </a:solidFill>
          <a:ln w="9525">
            <a:solidFill>
              <a:srgbClr val="2233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201168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D4B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41248" y="254203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意图门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41248" y="299923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AF2F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注入 / 越狱 / 越权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349300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B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非业务意图一律拦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18688" y="2788920"/>
            <a:ext cx="219456" cy="292608"/>
          </a:xfrm>
          <a:prstGeom prst="rightArrow">
            <a:avLst/>
          </a:prstGeom>
          <a:solidFill>
            <a:srgbClr val="2DD4BF"/>
          </a:solidFill>
          <a:ln/>
        </p:spPr>
      </p:sp>
      <p:sp>
        <p:nvSpPr>
          <p:cNvPr id="10" name="Shape 8"/>
          <p:cNvSpPr/>
          <p:nvPr/>
        </p:nvSpPr>
        <p:spPr>
          <a:xfrm>
            <a:off x="3456432" y="1874520"/>
            <a:ext cx="2542032" cy="2148840"/>
          </a:xfrm>
          <a:prstGeom prst="roundRect">
            <a:avLst>
              <a:gd name="adj" fmla="val 5106"/>
            </a:avLst>
          </a:prstGeom>
          <a:solidFill>
            <a:srgbClr val="14202E"/>
          </a:solidFill>
          <a:ln w="9525">
            <a:solidFill>
              <a:srgbClr val="2233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0" y="201168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D4B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02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3657600" y="254203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产品门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657600" y="299923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AF2F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目录 allowlist 硬约束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657600" y="349300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B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幻觉品名直接拒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035040" y="2788920"/>
            <a:ext cx="219456" cy="292608"/>
          </a:xfrm>
          <a:prstGeom prst="rightArrow">
            <a:avLst/>
          </a:prstGeom>
          <a:solidFill>
            <a:srgbClr val="2DD4BF"/>
          </a:solidFill>
          <a:ln/>
        </p:spPr>
      </p:sp>
      <p:sp>
        <p:nvSpPr>
          <p:cNvPr id="16" name="Shape 14"/>
          <p:cNvSpPr/>
          <p:nvPr/>
        </p:nvSpPr>
        <p:spPr>
          <a:xfrm>
            <a:off x="6272784" y="1874520"/>
            <a:ext cx="2542032" cy="2148840"/>
          </a:xfrm>
          <a:prstGeom prst="roundRect">
            <a:avLst>
              <a:gd name="adj" fmla="val 5106"/>
            </a:avLst>
          </a:prstGeom>
          <a:solidFill>
            <a:srgbClr val="14202E"/>
          </a:solidFill>
          <a:ln w="9525">
            <a:solidFill>
              <a:srgbClr val="2233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73952" y="201168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D4B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03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473952" y="254203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适当性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473952" y="299923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AF2F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客户风险分 vs 产品风险级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73952" y="349300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B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购买拦 · 咨询警示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851392" y="2788920"/>
            <a:ext cx="219456" cy="292608"/>
          </a:xfrm>
          <a:prstGeom prst="rightArrow">
            <a:avLst/>
          </a:prstGeom>
          <a:solidFill>
            <a:srgbClr val="2DD4BF"/>
          </a:solidFill>
          <a:ln/>
        </p:spPr>
      </p:sp>
      <p:sp>
        <p:nvSpPr>
          <p:cNvPr id="22" name="Shape 20"/>
          <p:cNvSpPr/>
          <p:nvPr/>
        </p:nvSpPr>
        <p:spPr>
          <a:xfrm>
            <a:off x="9089136" y="1874520"/>
            <a:ext cx="2542032" cy="2148840"/>
          </a:xfrm>
          <a:prstGeom prst="roundRect">
            <a:avLst>
              <a:gd name="adj" fmla="val 5106"/>
            </a:avLst>
          </a:prstGeom>
          <a:solidFill>
            <a:srgbClr val="14202E"/>
          </a:solidFill>
          <a:ln w="9525">
            <a:solidFill>
              <a:srgbClr val="2233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290304" y="201168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D4B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04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9290304" y="254203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话术门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290304" y="299923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AF2F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禁保本 / 稳赚 / 刚兑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9290304" y="349300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B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放行必带披露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58368" y="4434840"/>
            <a:ext cx="146304" cy="146304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28" name="Text 26"/>
          <p:cNvSpPr/>
          <p:nvPr/>
        </p:nvSpPr>
        <p:spPr>
          <a:xfrm>
            <a:off x="960120" y="43434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EEAD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规则先行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2560320" y="4343400"/>
            <a:ext cx="88998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AF2F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YAML 管「能不能」；当前版本未接 LLM，拦/放行全由规则决定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658368" y="5001768"/>
            <a:ext cx="146304" cy="146304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31" name="Text 29"/>
          <p:cNvSpPr/>
          <p:nvPr/>
        </p:nvSpPr>
        <p:spPr>
          <a:xfrm>
            <a:off x="960120" y="4910328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EEAD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默认拒绝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2560320" y="4910328"/>
            <a:ext cx="88998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AF2F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目录外 / 金额不清 / 意图不定 → 澄清或拦截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58368" y="5568696"/>
            <a:ext cx="146304" cy="146304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34" name="Text 32"/>
          <p:cNvSpPr/>
          <p:nvPr/>
        </p:nvSpPr>
        <p:spPr>
          <a:xfrm>
            <a:off x="960120" y="5477256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EEAD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可回放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2560320" y="5477256"/>
            <a:ext cx="88998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AF2F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request_id + 四门明细 + 原因码，审计可重放成路演画面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640080" y="6327648"/>
            <a:ext cx="10911535" cy="0"/>
          </a:xfrm>
          <a:prstGeom prst="line">
            <a:avLst/>
          </a:prstGeom>
          <a:noFill/>
          <a:ln w="9525">
            <a:solidFill>
              <a:srgbClr val="22334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739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FinTechathon 2026 · 银行 AI 智能体 · 弋承熙 &amp; 高依灵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10728655" y="640080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739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 / 10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2DD4B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架构 / 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四场景可跑 · 141 条测试 · LangGraph-ready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920240" cy="1234440"/>
          </a:xfrm>
          <a:prstGeom prst="roundRect">
            <a:avLst>
              <a:gd name="adj" fmla="val 7407"/>
            </a:avLst>
          </a:prstGeom>
          <a:solidFill>
            <a:srgbClr val="14202E"/>
          </a:solidFill>
          <a:ln w="9525">
            <a:solidFill>
              <a:srgbClr val="2233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208483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用户话术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25146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A6B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林晓晴 R2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96896" y="2331720"/>
            <a:ext cx="237744" cy="256032"/>
          </a:xfrm>
          <a:prstGeom prst="rightArrow">
            <a:avLst/>
          </a:prstGeom>
          <a:solidFill>
            <a:srgbClr val="2DD4BF"/>
          </a:solidFill>
          <a:ln/>
        </p:spPr>
      </p:sp>
      <p:sp>
        <p:nvSpPr>
          <p:cNvPr id="8" name="Shape 6"/>
          <p:cNvSpPr/>
          <p:nvPr/>
        </p:nvSpPr>
        <p:spPr>
          <a:xfrm>
            <a:off x="2880360" y="1828800"/>
            <a:ext cx="1920240" cy="1234440"/>
          </a:xfrm>
          <a:prstGeom prst="roundRect">
            <a:avLst>
              <a:gd name="adj" fmla="val 7407"/>
            </a:avLst>
          </a:prstGeom>
          <a:solidFill>
            <a:srgbClr val="14202E"/>
          </a:solidFill>
          <a:ln w="9525">
            <a:solidFill>
              <a:srgbClr val="2233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017520" y="208483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Intent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017520" y="25146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A6B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确定性分类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837176" y="2331720"/>
            <a:ext cx="237744" cy="256032"/>
          </a:xfrm>
          <a:prstGeom prst="rightArrow">
            <a:avLst/>
          </a:prstGeom>
          <a:solidFill>
            <a:srgbClr val="2DD4BF"/>
          </a:solidFill>
          <a:ln/>
        </p:spPr>
      </p:sp>
      <p:sp>
        <p:nvSpPr>
          <p:cNvPr id="12" name="Shape 10"/>
          <p:cNvSpPr/>
          <p:nvPr/>
        </p:nvSpPr>
        <p:spPr>
          <a:xfrm>
            <a:off x="5120640" y="1828800"/>
            <a:ext cx="1920240" cy="1234440"/>
          </a:xfrm>
          <a:prstGeom prst="roundRect">
            <a:avLst>
              <a:gd name="adj" fmla="val 7407"/>
            </a:avLst>
          </a:prstGeom>
          <a:solidFill>
            <a:srgbClr val="1A2A3C"/>
          </a:solidFill>
          <a:ln w="19050">
            <a:solidFill>
              <a:srgbClr val="2DD4B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57800" y="208483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四道门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257800" y="25146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A6B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gates.py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077456" y="2331720"/>
            <a:ext cx="237744" cy="256032"/>
          </a:xfrm>
          <a:prstGeom prst="rightArrow">
            <a:avLst/>
          </a:prstGeom>
          <a:solidFill>
            <a:srgbClr val="2DD4BF"/>
          </a:solidFill>
          <a:ln/>
        </p:spPr>
      </p:sp>
      <p:sp>
        <p:nvSpPr>
          <p:cNvPr id="16" name="Shape 14"/>
          <p:cNvSpPr/>
          <p:nvPr/>
        </p:nvSpPr>
        <p:spPr>
          <a:xfrm>
            <a:off x="7360920" y="1828800"/>
            <a:ext cx="1920240" cy="1234440"/>
          </a:xfrm>
          <a:prstGeom prst="roundRect">
            <a:avLst>
              <a:gd name="adj" fmla="val 7407"/>
            </a:avLst>
          </a:prstGeom>
          <a:solidFill>
            <a:srgbClr val="14202E"/>
          </a:solidFill>
          <a:ln w="9525">
            <a:solidFill>
              <a:srgbClr val="2233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0" y="208483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Tools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498080" y="25146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A6B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仅 allowed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317736" y="2331720"/>
            <a:ext cx="237744" cy="256032"/>
          </a:xfrm>
          <a:prstGeom prst="rightArrow">
            <a:avLst/>
          </a:prstGeom>
          <a:solidFill>
            <a:srgbClr val="2DD4BF"/>
          </a:solidFill>
          <a:ln/>
        </p:spPr>
      </p:sp>
      <p:sp>
        <p:nvSpPr>
          <p:cNvPr id="20" name="Shape 18"/>
          <p:cNvSpPr/>
          <p:nvPr/>
        </p:nvSpPr>
        <p:spPr>
          <a:xfrm>
            <a:off x="9601200" y="1828800"/>
            <a:ext cx="1920240" cy="1234440"/>
          </a:xfrm>
          <a:prstGeom prst="roundRect">
            <a:avLst>
              <a:gd name="adj" fmla="val 7407"/>
            </a:avLst>
          </a:prstGeom>
          <a:solidFill>
            <a:srgbClr val="14202E"/>
          </a:solidFill>
          <a:ln w="9525">
            <a:solidFill>
              <a:srgbClr val="2233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738360" y="208483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审计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738360" y="25146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A6B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JSONL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3429000"/>
            <a:ext cx="3429000" cy="932688"/>
          </a:xfrm>
          <a:prstGeom prst="roundRect">
            <a:avLst>
              <a:gd name="adj" fmla="val 7843"/>
            </a:avLst>
          </a:prstGeom>
          <a:solidFill>
            <a:srgbClr val="14202E"/>
          </a:solidFill>
          <a:ln w="9525">
            <a:solidFill>
              <a:srgbClr val="22334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1248" y="356616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agent/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41248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B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状态机 + 四关 + 金额解析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297680" y="3429000"/>
            <a:ext cx="3429000" cy="932688"/>
          </a:xfrm>
          <a:prstGeom prst="roundRect">
            <a:avLst>
              <a:gd name="adj" fmla="val 7843"/>
            </a:avLst>
          </a:prstGeom>
          <a:solidFill>
            <a:srgbClr val="14202E"/>
          </a:solidFill>
          <a:ln w="9525">
            <a:solidFill>
              <a:srgbClr val="22334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498848" y="356616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mock_bank/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498848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B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FastAPI + 第二道闸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7955280" y="3429000"/>
            <a:ext cx="3429000" cy="932688"/>
          </a:xfrm>
          <a:prstGeom prst="roundRect">
            <a:avLst>
              <a:gd name="adj" fmla="val 7843"/>
            </a:avLst>
          </a:prstGeom>
          <a:solidFill>
            <a:srgbClr val="14202E"/>
          </a:solidFill>
          <a:ln w="9525">
            <a:solidFill>
              <a:srgbClr val="223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156448" y="356616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configs/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156448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B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compliance_rules.yaml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40080" y="4544568"/>
            <a:ext cx="3429000" cy="932688"/>
          </a:xfrm>
          <a:prstGeom prst="roundRect">
            <a:avLst>
              <a:gd name="adj" fmla="val 7843"/>
            </a:avLst>
          </a:prstGeom>
          <a:solidFill>
            <a:srgbClr val="14202E"/>
          </a:solidFill>
          <a:ln w="9525">
            <a:solidFill>
              <a:srgbClr val="22334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41248" y="4681728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audit/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841248" y="502005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B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events.jsonl 决策轨迹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297680" y="4544568"/>
            <a:ext cx="3429000" cy="932688"/>
          </a:xfrm>
          <a:prstGeom prst="roundRect">
            <a:avLst>
              <a:gd name="adj" fmla="val 7843"/>
            </a:avLst>
          </a:prstGeom>
          <a:solidFill>
            <a:srgbClr val="14202E"/>
          </a:solidFill>
          <a:ln w="9525">
            <a:solidFill>
              <a:srgbClr val="22334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498848" y="4681728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tests/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4498848" y="502005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B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141 passed（pytest）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7955280" y="4544568"/>
            <a:ext cx="3429000" cy="932688"/>
          </a:xfrm>
          <a:prstGeom prst="roundRect">
            <a:avLst>
              <a:gd name="adj" fmla="val 7843"/>
            </a:avLst>
          </a:prstGeom>
          <a:solidFill>
            <a:srgbClr val="14202E"/>
          </a:solidFill>
          <a:ln w="9525">
            <a:solidFill>
              <a:srgbClr val="22334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156448" y="4681728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data/evals/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156448" y="502005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B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评测集 173 + 对抗集 111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6327648"/>
            <a:ext cx="10911535" cy="0"/>
          </a:xfrm>
          <a:prstGeom prst="line">
            <a:avLst/>
          </a:prstGeom>
          <a:noFill/>
          <a:ln w="9525">
            <a:solidFill>
              <a:srgbClr val="22334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739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FinTechathon 2026 · 银行 AI 智能体 · 弋承熙 &amp; 高依灵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10728655" y="640080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739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 / 10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2DD4B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演示 / LIVE DEMO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拦得住 · 办得成 · 兜得住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41732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6B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约 5 分钟，可现场复跑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3429000" cy="3931920"/>
          </a:xfrm>
          <a:prstGeom prst="roundRect">
            <a:avLst>
              <a:gd name="adj" fmla="val 3200"/>
            </a:avLst>
          </a:prstGeom>
          <a:solidFill>
            <a:srgbClr val="14202E"/>
          </a:solidFill>
          <a:ln w="9525">
            <a:solidFill>
              <a:srgbClr val="22334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920240"/>
            <a:ext cx="3429000" cy="64008"/>
          </a:xfrm>
          <a:prstGeom prst="rect">
            <a:avLst/>
          </a:prstGeom>
          <a:solidFill>
            <a:srgbClr val="EF6461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1488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第一幕 · 拦得住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914400" y="26060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F646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~90s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306324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AF2F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·  「…保本的。」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14400" y="363016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AF2F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·  Gate4 → USER_FORBIDDEN:保本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14400" y="4197096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AF2F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·  规则门在模型之前拦下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14400" y="4764024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AF2F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·  资金工具调用 = 0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343400" y="1920240"/>
            <a:ext cx="3429000" cy="3931920"/>
          </a:xfrm>
          <a:prstGeom prst="roundRect">
            <a:avLst>
              <a:gd name="adj" fmla="val 3200"/>
            </a:avLst>
          </a:prstGeom>
          <a:solidFill>
            <a:srgbClr val="14202E"/>
          </a:solidFill>
          <a:ln w="9525">
            <a:solidFill>
              <a:srgbClr val="22334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43400" y="1920240"/>
            <a:ext cx="3429000" cy="64008"/>
          </a:xfrm>
          <a:prstGeom prst="rect">
            <a:avLst/>
          </a:prstGeom>
          <a:solidFill>
            <a:srgbClr val="4ADE80"/>
          </a:solidFill>
          <a:ln/>
        </p:spPr>
      </p:sp>
      <p:sp>
        <p:nvSpPr>
          <p:cNvPr id="15" name="Text 13"/>
          <p:cNvSpPr/>
          <p:nvPr/>
        </p:nvSpPr>
        <p:spPr>
          <a:xfrm>
            <a:off x="4617720" y="21488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第二幕 · 办得成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4617720" y="26060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DE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~120s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617720" y="306324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AF2F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·  R2 货基 / 短债 → 放行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617720" y="363016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AF2F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·  WB_CASH_001 + 强制披露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617720" y="4197096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AF2F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·  100 元转本人备用金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617720" y="4764024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AF2F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·  审计面板实时追加 JSONL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046720" y="1920240"/>
            <a:ext cx="3429000" cy="3931920"/>
          </a:xfrm>
          <a:prstGeom prst="roundRect">
            <a:avLst>
              <a:gd name="adj" fmla="val 3200"/>
            </a:avLst>
          </a:prstGeom>
          <a:solidFill>
            <a:srgbClr val="14202E"/>
          </a:solidFill>
          <a:ln w="9525">
            <a:solidFill>
              <a:srgbClr val="22334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046720" y="1920240"/>
            <a:ext cx="3429000" cy="64008"/>
          </a:xfrm>
          <a:prstGeom prst="rect">
            <a:avLst/>
          </a:prstGeom>
          <a:solidFill>
            <a:srgbClr val="F4A261"/>
          </a:solidFill>
          <a:ln/>
        </p:spPr>
      </p:sp>
      <p:sp>
        <p:nvSpPr>
          <p:cNvPr id="23" name="Text 21"/>
          <p:cNvSpPr/>
          <p:nvPr/>
        </p:nvSpPr>
        <p:spPr>
          <a:xfrm>
            <a:off x="8321040" y="21488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第三幕 · 兜得住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8321040" y="26060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4A26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~90s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321040" y="306324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AF2F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·  6 万转陌生人 → 白名单拦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321040" y="363016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AF2F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·  注入改收款人 → 注入门命中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321040" y="4197096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AF2F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·  主动交底失败数字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321040" y="4764024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AF2F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·  可回归用例表，不是剪辑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40080" y="6327648"/>
            <a:ext cx="10911535" cy="0"/>
          </a:xfrm>
          <a:prstGeom prst="line">
            <a:avLst/>
          </a:prstGeom>
          <a:noFill/>
          <a:ln w="9525">
            <a:solidFill>
              <a:srgbClr val="223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739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FinTechathon 2026 · 银行 AI 智能体 · 弋承熙 &amp; 高依灵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0728655" y="640080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739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5 / 10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2DD4B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差异化 / WHY US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别人做「会卖」——我们做「银行敢让它卖」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349240" cy="457200"/>
          </a:xfrm>
          <a:prstGeom prst="roundRect">
            <a:avLst>
              <a:gd name="adj" fmla="val 12000"/>
            </a:avLst>
          </a:prstGeom>
          <a:solidFill>
            <a:srgbClr val="1A2A3C"/>
          </a:solidFill>
          <a:ln w="6350">
            <a:solidFill>
              <a:srgbClr val="2233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2048256"/>
            <a:ext cx="4892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FA6B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常见做法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263640" y="1965960"/>
            <a:ext cx="5349240" cy="457200"/>
          </a:xfrm>
          <a:prstGeom prst="roundRect">
            <a:avLst>
              <a:gd name="adj" fmla="val 12000"/>
            </a:avLst>
          </a:prstGeom>
          <a:solidFill>
            <a:srgbClr val="123B36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92240" y="2048256"/>
            <a:ext cx="4892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EEAD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我们的做法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542032"/>
            <a:ext cx="5349240" cy="603504"/>
          </a:xfrm>
          <a:prstGeom prst="rect">
            <a:avLst/>
          </a:prstGeom>
          <a:solidFill>
            <a:srgbClr val="14202E"/>
          </a:solidFill>
          <a:ln w="6350">
            <a:solidFill>
              <a:srgbClr val="2233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2688336"/>
            <a:ext cx="4892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6B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system prompt 里写一句「要合规」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2542032"/>
            <a:ext cx="5349240" cy="603504"/>
          </a:xfrm>
          <a:prstGeom prst="rect">
            <a:avLst/>
          </a:prstGeom>
          <a:solidFill>
            <a:srgbClr val="1A2A3C"/>
          </a:solidFill>
          <a:ln w="6350">
            <a:solidFill>
              <a:srgbClr val="2233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92240" y="2688336"/>
            <a:ext cx="4892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AF2F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独立可测组件 gates.py + YAML + 单测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255264"/>
            <a:ext cx="5349240" cy="603504"/>
          </a:xfrm>
          <a:prstGeom prst="rect">
            <a:avLst/>
          </a:prstGeom>
          <a:solidFill>
            <a:srgbClr val="14202E"/>
          </a:solidFill>
          <a:ln w="6350">
            <a:solidFill>
              <a:srgbClr val="2233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401568"/>
            <a:ext cx="4892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6B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只演示成功路径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63640" y="3255264"/>
            <a:ext cx="5349240" cy="603504"/>
          </a:xfrm>
          <a:prstGeom prst="rect">
            <a:avLst/>
          </a:prstGeom>
          <a:solidFill>
            <a:srgbClr val="1A2A3C"/>
          </a:solidFill>
          <a:ln w="6350">
            <a:solidFill>
              <a:srgbClr val="2233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0" y="3401568"/>
            <a:ext cx="4892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AF2F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同一流程既放行又拦截，边界可见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3968496"/>
            <a:ext cx="5349240" cy="603504"/>
          </a:xfrm>
          <a:prstGeom prst="rect">
            <a:avLst/>
          </a:prstGeom>
          <a:solidFill>
            <a:srgbClr val="14202E"/>
          </a:solidFill>
          <a:ln w="6350">
            <a:solidFill>
              <a:srgbClr val="2233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4114800"/>
            <a:ext cx="4892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6B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靠模型自觉不说幻觉产品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263640" y="3968496"/>
            <a:ext cx="5349240" cy="603504"/>
          </a:xfrm>
          <a:prstGeom prst="rect">
            <a:avLst/>
          </a:prstGeom>
          <a:solidFill>
            <a:srgbClr val="1A2A3C"/>
          </a:solidFill>
          <a:ln w="6350">
            <a:solidFill>
              <a:srgbClr val="2233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92240" y="4114800"/>
            <a:ext cx="4892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AF2F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目录 allowlist 硬约束，不在目录即拒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4681728"/>
            <a:ext cx="5349240" cy="603504"/>
          </a:xfrm>
          <a:prstGeom prst="rect">
            <a:avLst/>
          </a:prstGeom>
          <a:solidFill>
            <a:srgbClr val="14202E"/>
          </a:solidFill>
          <a:ln w="6350">
            <a:solidFill>
              <a:srgbClr val="2233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68680" y="4828032"/>
            <a:ext cx="4892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6B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审计 = 把聊天记录存下来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263640" y="4681728"/>
            <a:ext cx="5349240" cy="603504"/>
          </a:xfrm>
          <a:prstGeom prst="rect">
            <a:avLst/>
          </a:prstGeom>
          <a:solidFill>
            <a:srgbClr val="1A2A3C"/>
          </a:solidFill>
          <a:ln w="6350">
            <a:solidFill>
              <a:srgbClr val="2233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92240" y="4828032"/>
            <a:ext cx="4892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AF2F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审计 = 结构化决策轨迹（四门各自结果 + 原因码）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40080" y="5394960"/>
            <a:ext cx="5349240" cy="603504"/>
          </a:xfrm>
          <a:prstGeom prst="rect">
            <a:avLst/>
          </a:prstGeom>
          <a:solidFill>
            <a:srgbClr val="14202E"/>
          </a:solidFill>
          <a:ln w="6350">
            <a:solidFill>
              <a:srgbClr val="2233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68680" y="5541264"/>
            <a:ext cx="4892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6B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事后人工抽检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263640" y="5394960"/>
            <a:ext cx="5349240" cy="603504"/>
          </a:xfrm>
          <a:prstGeom prst="rect">
            <a:avLst/>
          </a:prstGeom>
          <a:solidFill>
            <a:srgbClr val="1A2A3C"/>
          </a:solidFill>
          <a:ln w="6350">
            <a:solidFill>
              <a:srgbClr val="22334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92240" y="5541264"/>
            <a:ext cx="4892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AF2F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评测集可 CI 回归，改一行规则就知道影响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6327648"/>
            <a:ext cx="10911535" cy="0"/>
          </a:xfrm>
          <a:prstGeom prst="line">
            <a:avLst/>
          </a:prstGeom>
          <a:noFill/>
          <a:ln w="9525">
            <a:solidFill>
              <a:srgbClr val="22334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739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FinTechathon 2026 · 银行 AI 智能体 · 弋承熙 &amp; 高依灵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0728655" y="640080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739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6 / 10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2DD4B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数据 / EVIDENCE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敢在路演放失败数字，因为有可回归用例表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41732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6B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同一台机、同一命令、真跑；不是估算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2606040" cy="1828800"/>
          </a:xfrm>
          <a:prstGeom prst="roundRect">
            <a:avLst>
              <a:gd name="adj" fmla="val 6000"/>
            </a:avLst>
          </a:prstGeom>
          <a:solidFill>
            <a:srgbClr val="14202E"/>
          </a:solidFill>
          <a:ln w="9525">
            <a:solidFill>
              <a:srgbClr val="2233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993392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ADE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98.4%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731520" y="276148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应拦拦截率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31089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A6B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123 / 125 · 目标 ≥90%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456432" y="1828800"/>
            <a:ext cx="2606040" cy="1828800"/>
          </a:xfrm>
          <a:prstGeom prst="roundRect">
            <a:avLst>
              <a:gd name="adj" fmla="val 6000"/>
            </a:avLst>
          </a:prstGeom>
          <a:solidFill>
            <a:srgbClr val="14202E"/>
          </a:solidFill>
          <a:ln w="9525">
            <a:solidFill>
              <a:srgbClr val="2233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47872" y="1993392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ADE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0%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3547872" y="276148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注入逃逸率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547872" y="31089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A6B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 / 45 · 目标 ≤20%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272784" y="1828800"/>
            <a:ext cx="2606040" cy="1828800"/>
          </a:xfrm>
          <a:prstGeom prst="roundRect">
            <a:avLst>
              <a:gd name="adj" fmla="val 6000"/>
            </a:avLst>
          </a:prstGeom>
          <a:solidFill>
            <a:srgbClr val="14202E"/>
          </a:solidFill>
          <a:ln w="9525">
            <a:solidFill>
              <a:srgbClr val="223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64224" y="1993392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ADE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2.2%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6364224" y="276148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误拦率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364224" y="31089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A6B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 / 46 · 目标 ≤5%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089136" y="1828800"/>
            <a:ext cx="2606040" cy="1828800"/>
          </a:xfrm>
          <a:prstGeom prst="roundRect">
            <a:avLst>
              <a:gd name="adj" fmla="val 6000"/>
            </a:avLst>
          </a:prstGeom>
          <a:solidFill>
            <a:srgbClr val="14202E"/>
          </a:solidFill>
          <a:ln w="9525">
            <a:solidFill>
              <a:srgbClr val="223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80576" y="1993392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ADE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97.1%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9180576" y="276148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评测集通过率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180576" y="31089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A6B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168 / 173 · 另 2 条 SKIP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931920"/>
            <a:ext cx="10911535" cy="2148840"/>
          </a:xfrm>
          <a:prstGeom prst="roundRect">
            <a:avLst>
              <a:gd name="adj" fmla="val 4255"/>
            </a:avLst>
          </a:prstGeom>
          <a:solidFill>
            <a:srgbClr val="14202E"/>
          </a:solidFill>
          <a:ln w="9525">
            <a:solidFill>
              <a:srgbClr val="223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409651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EEAD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对照实验：同一份评测集，加门 vs 不加门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14400" y="45720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B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无合规门（只靠银行侧兜底）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114800" y="4590288"/>
            <a:ext cx="5943600" cy="237744"/>
          </a:xfrm>
          <a:prstGeom prst="roundRect">
            <a:avLst>
              <a:gd name="adj" fmla="val 19231"/>
            </a:avLst>
          </a:prstGeom>
          <a:solidFill>
            <a:srgbClr val="0E1825"/>
          </a:solidFill>
          <a:ln w="6350">
            <a:solidFill>
              <a:srgbClr val="22334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14800" y="4590288"/>
            <a:ext cx="2609240" cy="237744"/>
          </a:xfrm>
          <a:prstGeom prst="roundRect">
            <a:avLst>
              <a:gd name="adj" fmla="val 19231"/>
            </a:avLst>
          </a:prstGeom>
          <a:solidFill>
            <a:srgbClr val="EF6461"/>
          </a:solidFill>
          <a:ln/>
        </p:spPr>
      </p:sp>
      <p:sp>
        <p:nvSpPr>
          <p:cNvPr id="26" name="Text 24"/>
          <p:cNvSpPr/>
          <p:nvPr/>
        </p:nvSpPr>
        <p:spPr>
          <a:xfrm>
            <a:off x="10195560" y="45720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F646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43.9%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14400" y="523036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B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有合规门（本方案）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114800" y="5248656"/>
            <a:ext cx="5943600" cy="237744"/>
          </a:xfrm>
          <a:prstGeom prst="roundRect">
            <a:avLst>
              <a:gd name="adj" fmla="val 19231"/>
            </a:avLst>
          </a:prstGeom>
          <a:solidFill>
            <a:srgbClr val="0E1825"/>
          </a:solidFill>
          <a:ln w="6350">
            <a:solidFill>
              <a:srgbClr val="22334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114800" y="5248656"/>
            <a:ext cx="5836615" cy="237744"/>
          </a:xfrm>
          <a:prstGeom prst="roundRect">
            <a:avLst>
              <a:gd name="adj" fmla="val 19231"/>
            </a:avLst>
          </a:prstGeom>
          <a:solidFill>
            <a:srgbClr val="4ADE80"/>
          </a:solidFill>
          <a:ln/>
        </p:spPr>
      </p:sp>
      <p:sp>
        <p:nvSpPr>
          <p:cNvPr id="30" name="Text 28"/>
          <p:cNvSpPr/>
          <p:nvPr/>
        </p:nvSpPr>
        <p:spPr>
          <a:xfrm>
            <a:off x="10195560" y="523036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DE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98.2%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914400" y="5806440"/>
            <a:ext cx="103628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AF2F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应拦的 125 条：有门拦下 123，无门只拦下 32 —— 差 93 条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40080" y="6327648"/>
            <a:ext cx="10911535" cy="0"/>
          </a:xfrm>
          <a:prstGeom prst="line">
            <a:avLst/>
          </a:prstGeom>
          <a:noFill/>
          <a:ln w="9525">
            <a:solidFill>
              <a:srgbClr val="22334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739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FinTechathon 2026 · 银行 AI 智能体 · 弋承熙 &amp; 高依灵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0728655" y="640080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739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7 / 10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2DD4B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安全 / DEFENSE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双闸：Agent 四门 + 银行侧独立兜底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EEAD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Agent 侧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309360" y="16916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EEAD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Bank 侧（第二道闸）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103120"/>
            <a:ext cx="5257800" cy="694944"/>
          </a:xfrm>
          <a:prstGeom prst="roundRect">
            <a:avLst>
              <a:gd name="adj" fmla="val 10526"/>
            </a:avLst>
          </a:prstGeom>
          <a:solidFill>
            <a:srgbClr val="14202E"/>
          </a:solidFill>
          <a:ln w="6350">
            <a:solidFill>
              <a:srgbClr val="2233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2185416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注入 / 越狱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41248" y="2450592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6B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27 条模式 + 间接载体检测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907792"/>
            <a:ext cx="5257800" cy="694944"/>
          </a:xfrm>
          <a:prstGeom prst="roundRect">
            <a:avLst>
              <a:gd name="adj" fmla="val 10526"/>
            </a:avLst>
          </a:prstGeom>
          <a:solidFill>
            <a:srgbClr val="14202E"/>
          </a:solidFill>
          <a:ln w="6350">
            <a:solidFill>
              <a:srgbClr val="2233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299008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编码绕过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41248" y="3255264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6B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实体 / URL / uXXXX / base64 / 零宽 / leetspeak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3712464"/>
            <a:ext cx="5257800" cy="694944"/>
          </a:xfrm>
          <a:prstGeom prst="roundRect">
            <a:avLst>
              <a:gd name="adj" fmla="val 10526"/>
            </a:avLst>
          </a:prstGeom>
          <a:solidFill>
            <a:srgbClr val="14202E"/>
          </a:solidFill>
          <a:ln w="6350">
            <a:solidFill>
              <a:srgbClr val="2233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1248" y="379476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授权范围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41248" y="4059936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6B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代客 / 横向 / 测评篡改一律拦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4517136"/>
            <a:ext cx="5257800" cy="694944"/>
          </a:xfrm>
          <a:prstGeom prst="roundRect">
            <a:avLst>
              <a:gd name="adj" fmla="val 10526"/>
            </a:avLst>
          </a:prstGeom>
          <a:solidFill>
            <a:srgbClr val="14202E"/>
          </a:solidFill>
          <a:ln w="6350">
            <a:solidFill>
              <a:srgbClr val="2233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" y="4599432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目录硬约束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41248" y="48646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6B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未知品名 block，禁止近名替换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5321808"/>
            <a:ext cx="5257800" cy="694944"/>
          </a:xfrm>
          <a:prstGeom prst="roundRect">
            <a:avLst>
              <a:gd name="adj" fmla="val 10526"/>
            </a:avLst>
          </a:prstGeom>
          <a:solidFill>
            <a:srgbClr val="14202E"/>
          </a:solidFill>
          <a:ln w="6350">
            <a:solidFill>
              <a:srgbClr val="2233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41248" y="5404104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澄清门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41248" y="566928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6B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房贷 / 梭哈 / VIP 施压先澄清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309360" y="2103120"/>
            <a:ext cx="5257800" cy="694944"/>
          </a:xfrm>
          <a:prstGeom prst="roundRect">
            <a:avLst>
              <a:gd name="adj" fmla="val 10526"/>
            </a:avLst>
          </a:prstGeom>
          <a:solidFill>
            <a:srgbClr val="14202E"/>
          </a:solidFill>
          <a:ln w="6350">
            <a:solidFill>
              <a:srgbClr val="223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10528" y="2185416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转账白名单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510528" y="2450592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6B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&gt;5 万非本人 → 403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309360" y="2907792"/>
            <a:ext cx="5257800" cy="694944"/>
          </a:xfrm>
          <a:prstGeom prst="roundRect">
            <a:avLst>
              <a:gd name="adj" fmla="val 10526"/>
            </a:avLst>
          </a:prstGeom>
          <a:solidFill>
            <a:srgbClr val="14202E"/>
          </a:solidFill>
          <a:ln w="6350">
            <a:solidFill>
              <a:srgbClr val="2233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10528" y="299008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日累计软限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510528" y="3255264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6B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对外 &gt;2 万/日 → 403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09360" y="3712464"/>
            <a:ext cx="5257800" cy="694944"/>
          </a:xfrm>
          <a:prstGeom prst="roundRect">
            <a:avLst>
              <a:gd name="adj" fmla="val 10526"/>
            </a:avLst>
          </a:prstGeom>
          <a:solidFill>
            <a:srgbClr val="14202E"/>
          </a:solidFill>
          <a:ln w="6350">
            <a:solidFill>
              <a:srgbClr val="22334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10528" y="379476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申购适当性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510528" y="4059936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6B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risk_score 不足 → 403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309360" y="4517136"/>
            <a:ext cx="5257800" cy="694944"/>
          </a:xfrm>
          <a:prstGeom prst="roundRect">
            <a:avLst>
              <a:gd name="adj" fmla="val 10526"/>
            </a:avLst>
          </a:prstGeom>
          <a:solidFill>
            <a:srgbClr val="14202E"/>
          </a:solidFill>
          <a:ln w="6350">
            <a:solidFill>
              <a:srgbClr val="22334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10528" y="4599432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密钥纪律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510528" y="48646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6B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无 .env；包内仅 .env.example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309360" y="5321808"/>
            <a:ext cx="5257800" cy="694944"/>
          </a:xfrm>
          <a:prstGeom prst="roundRect">
            <a:avLst>
              <a:gd name="adj" fmla="val 10526"/>
            </a:avLst>
          </a:prstGeom>
          <a:solidFill>
            <a:srgbClr val="14202E"/>
          </a:solidFill>
          <a:ln w="6350">
            <a:solidFill>
              <a:srgbClr val="22334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510528" y="5404104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代理隔离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510528" y="566928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6B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环回流量强制 trust_env=false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40080" y="6327648"/>
            <a:ext cx="10911535" cy="0"/>
          </a:xfrm>
          <a:prstGeom prst="line">
            <a:avLst/>
          </a:prstGeom>
          <a:noFill/>
          <a:ln w="9525">
            <a:solidFill>
              <a:srgbClr val="22334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739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FinTechathon 2026 · 银行 AI 智能体 · 弋承熙 &amp; 高依灵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10728655" y="640080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739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8 / 10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2DD4B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局限 / LIMITS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我们没做到的事，比做到的更值得先说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41732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6B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主动交底，避免评委追问时被动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10911535" cy="749808"/>
          </a:xfrm>
          <a:prstGeom prst="roundRect">
            <a:avLst>
              <a:gd name="adj" fmla="val 9756"/>
            </a:avLst>
          </a:prstGeom>
          <a:solidFill>
            <a:srgbClr val="14202E"/>
          </a:solidFill>
          <a:ln w="6350">
            <a:solidFill>
              <a:srgbClr val="22334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874520"/>
            <a:ext cx="54864" cy="749808"/>
          </a:xfrm>
          <a:prstGeom prst="rect">
            <a:avLst/>
          </a:prstGeom>
          <a:solidFill>
            <a:srgbClr val="F4A261"/>
          </a:solidFill>
          <a:ln/>
        </p:spPr>
      </p:sp>
      <p:sp>
        <p:nvSpPr>
          <p:cNvPr id="7" name="Text 5"/>
          <p:cNvSpPr/>
          <p:nvPr/>
        </p:nvSpPr>
        <p:spPr>
          <a:xfrm>
            <a:off x="896112" y="207568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A26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没接 LLM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383280" y="2075688"/>
            <a:ext cx="8076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AF2F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拦/放行全由规则引擎决定。「模型后置」是架构定位，不是已完成功能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743200"/>
            <a:ext cx="10911535" cy="749808"/>
          </a:xfrm>
          <a:prstGeom prst="roundRect">
            <a:avLst>
              <a:gd name="adj" fmla="val 9756"/>
            </a:avLst>
          </a:prstGeom>
          <a:solidFill>
            <a:srgbClr val="14202E"/>
          </a:solidFill>
          <a:ln w="6350">
            <a:solidFill>
              <a:srgbClr val="22334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2743200"/>
            <a:ext cx="54864" cy="749808"/>
          </a:xfrm>
          <a:prstGeom prst="rect">
            <a:avLst/>
          </a:prstGeom>
          <a:solidFill>
            <a:srgbClr val="F4A261"/>
          </a:solidFill>
          <a:ln/>
        </p:spPr>
      </p:sp>
      <p:sp>
        <p:nvSpPr>
          <p:cNvPr id="11" name="Text 9"/>
          <p:cNvSpPr/>
          <p:nvPr/>
        </p:nvSpPr>
        <p:spPr>
          <a:xfrm>
            <a:off x="896112" y="294436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A26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没碰真实银行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383280" y="2944368"/>
            <a:ext cx="8076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AF2F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只有 Mock Bank。行内接口形态、鉴权、灰度流程全部未知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3611880"/>
            <a:ext cx="10911535" cy="749808"/>
          </a:xfrm>
          <a:prstGeom prst="roundRect">
            <a:avLst>
              <a:gd name="adj" fmla="val 9756"/>
            </a:avLst>
          </a:prstGeom>
          <a:solidFill>
            <a:srgbClr val="14202E"/>
          </a:solidFill>
          <a:ln w="6350">
            <a:solidFill>
              <a:srgbClr val="22334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3611880"/>
            <a:ext cx="54864" cy="749808"/>
          </a:xfrm>
          <a:prstGeom prst="rect">
            <a:avLst/>
          </a:prstGeom>
          <a:solidFill>
            <a:srgbClr val="F4A261"/>
          </a:solidFill>
          <a:ln/>
        </p:spPr>
      </p:sp>
      <p:sp>
        <p:nvSpPr>
          <p:cNvPr id="15" name="Text 13"/>
          <p:cNvSpPr/>
          <p:nvPr/>
        </p:nvSpPr>
        <p:spPr>
          <a:xfrm>
            <a:off x="896112" y="381304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A26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没做竞品调研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383280" y="3813048"/>
            <a:ext cx="8076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AF2F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不确定市面上是否已有同类前置合规网关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40080" y="4480560"/>
            <a:ext cx="10911535" cy="749808"/>
          </a:xfrm>
          <a:prstGeom prst="roundRect">
            <a:avLst>
              <a:gd name="adj" fmla="val 9756"/>
            </a:avLst>
          </a:prstGeom>
          <a:solidFill>
            <a:srgbClr val="14202E"/>
          </a:solidFill>
          <a:ln w="6350">
            <a:solidFill>
              <a:srgbClr val="22334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080" y="4480560"/>
            <a:ext cx="54864" cy="749808"/>
          </a:xfrm>
          <a:prstGeom prst="rect">
            <a:avLst/>
          </a:prstGeom>
          <a:solidFill>
            <a:srgbClr val="F4A261"/>
          </a:solidFill>
          <a:ln/>
        </p:spPr>
      </p:sp>
      <p:sp>
        <p:nvSpPr>
          <p:cNvPr id="19" name="Text 17"/>
          <p:cNvSpPr/>
          <p:nvPr/>
        </p:nvSpPr>
        <p:spPr>
          <a:xfrm>
            <a:off x="896112" y="468172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A26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 条用例未通过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3383280" y="4681728"/>
            <a:ext cx="8076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AF2F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E10/T23 属评测集自身口径冲突；B01 是主动取舍（宁可多问一句）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40080" y="5349240"/>
            <a:ext cx="10911535" cy="749808"/>
          </a:xfrm>
          <a:prstGeom prst="roundRect">
            <a:avLst>
              <a:gd name="adj" fmla="val 9756"/>
            </a:avLst>
          </a:prstGeom>
          <a:solidFill>
            <a:srgbClr val="14202E"/>
          </a:solidFill>
          <a:ln w="6350">
            <a:solidFill>
              <a:srgbClr val="22334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5349240"/>
            <a:ext cx="54864" cy="749808"/>
          </a:xfrm>
          <a:prstGeom prst="rect">
            <a:avLst/>
          </a:prstGeom>
          <a:solidFill>
            <a:srgbClr val="F4A261"/>
          </a:solidFill>
          <a:ln/>
        </p:spPr>
      </p:sp>
      <p:sp>
        <p:nvSpPr>
          <p:cNvPr id="23" name="Text 21"/>
          <p:cNvSpPr/>
          <p:nvPr/>
        </p:nvSpPr>
        <p:spPr>
          <a:xfrm>
            <a:off x="896112" y="555040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A26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注入词表不全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3383280" y="5550408"/>
            <a:ext cx="8076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AF2F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覆盖中/英/日 + 编码族；韩/法/俄等语种未覆盖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40080" y="6327648"/>
            <a:ext cx="10911535" cy="0"/>
          </a:xfrm>
          <a:prstGeom prst="line">
            <a:avLst/>
          </a:prstGeom>
          <a:noFill/>
          <a:ln w="9525">
            <a:solidFill>
              <a:srgbClr val="223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739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FinTechathon 2026 · 银行 AI 智能体 · 弋承熙 &amp; 高依灵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0728655" y="640080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739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9 / 10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0515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2DD4B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收尾 / CLOSING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146304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让银行的大模型「先审后答」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822960" y="2331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AF2F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每一条销售话术过四道门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277063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AF2F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每一次拦截进审计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320954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AF2F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每一个失败都可复现、可修复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" y="4069080"/>
            <a:ext cx="10545775" cy="1920240"/>
          </a:xfrm>
          <a:prstGeom prst="roundRect">
            <a:avLst>
              <a:gd name="adj" fmla="val 4762"/>
            </a:avLst>
          </a:prstGeom>
          <a:solidFill>
            <a:srgbClr val="14202E"/>
          </a:solidFill>
          <a:ln w="9525">
            <a:solidFill>
              <a:srgbClr val="2233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7280" y="422452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EEAD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落地假设（微众类互联网银行试点）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97280" y="461772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6B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切入点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194560" y="4617720"/>
            <a:ext cx="8991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2F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财富售前合规拦截层（SDK / 网关挂在 Agent 与工具之间）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97280" y="494690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6B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对接面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194560" y="4946904"/>
            <a:ext cx="8991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2F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风险等级 · 产品目录 · 话术库 · 行内审计平台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97280" y="527608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6B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性能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194560" y="5276088"/>
            <a:ext cx="8991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2F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合规门稳态 2–3 ms（p95 &lt; 5 ms），串在销售链路上不成为瓶颈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97280" y="560527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6B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前提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194560" y="5605272"/>
            <a:ext cx="8991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2F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【未核验】行内是否已有同类产品 —— 发言按「假设」表述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6327648"/>
            <a:ext cx="10911535" cy="0"/>
          </a:xfrm>
          <a:prstGeom prst="line">
            <a:avLst/>
          </a:prstGeom>
          <a:noFill/>
          <a:ln w="9525">
            <a:solidFill>
              <a:srgbClr val="2233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739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FinTechathon 2026 · 银行 AI 智能体 · 弋承熙 &amp; 高依灵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0728655" y="640080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739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10 / 10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合规先审·银行AI销售智能体（合规官）</dc:title>
  <dc:subject>FinTechathon 2026 答辩材料 v2</dc:subject>
  <dc:creator>弋承熙 &amp; 高依灵</dc:creator>
  <cp:lastModifiedBy>弋承熙 &amp; 高依灵</cp:lastModifiedBy>
  <cp:revision>1</cp:revision>
  <dcterms:created xsi:type="dcterms:W3CDTF">2026-10-20T15:12:46Z</dcterms:created>
  <dcterms:modified xsi:type="dcterms:W3CDTF">2026-10-20T15:12:46Z</dcterms:modified>
</cp:coreProperties>
</file>